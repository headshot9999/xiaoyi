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全稿 17 页。开场用这一句定标准：下面要证明的是结构，不是信念。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先把落差放上桌。听众若不信，后面每一页都是写给这个不信的。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Belief 是把自己的想法握紧。要的是 Faith：对象如此，信不信都会发生。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分母不是全部消费者。是同时要绝对品质和绝对价格的人，再取一半。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好市多已经把毛利做成零。35% 若转嫁给顾客，就该劝会员去好市多。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三层成本：多型号的制造、广告和店、消费者的选择失败。拿掉这三层，1,200 才成立。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不是把价格砍下来。是把无用工序拿掉，再按一个月十万盒重算成本。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外包的意思变了：不是自己不会，是运转属于较低的一层，所以交出去。系统留在自己手里。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大创比一般卖场更要认真。经营者从制造里出来。品牌更高，是不够的答案。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非洲、孟加拉、秘鲁、巴拿马，都是队伍先走。店不是起点。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开放市场用长尾。艾多美把量集中到一个做得好的合作方。愿景先被看见，大量生产的循环才进得去。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艾护理负责关系，阿扎负责每天来，个人平台负责把事业做成方法。加油走联名卡积分，不卖加油券。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可以分开讲。不能分开成立。四句同时转，才是一百兆。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降运费是采购都会做的事。一贯工程删的是只为旧卖法存在的工序，或把下一道工序搬到原料那面墙外。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四件都落在工序上：模具、配方、罐容、鲜品。加款、谈运费、再加一个口味，都不在这四件里。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合作方先要看见能排产的量、设备由谁出、原料从育苗锁到哪一年。询价单给不出这些。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收束不再加新论点。四句对上封面。最后一句落到中国法人自己身上，然后停住。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9E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123444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 lang="zh-CN" altLang="en-US">
                <a:solidFill>
                  <a:srgbClr val="9A9A9A"/>
                </a:solidFill>
                <a:latin typeface="Noto Sans CJK SC"/>
                <a:ea typeface="Noto Sans CJK SC"/>
                <a:cs typeface="Noto Sans CJK SC"/>
              </a:rPr>
              <a:t>蒙想讯息    2026年9月22日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1965960"/>
            <a:ext cx="10972800" cy="19659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4800" b="0" i="0" lang="zh-CN" altLang="en-US">
                <a:solidFill>
                  <a:srgbClr val="FFFFFF"/>
                </a:solidFill>
                <a:latin typeface="Noto Sans CJK SC Medium"/>
                <a:ea typeface="Noto Sans CJK SC Medium"/>
                <a:cs typeface="Noto Sans CJK SC Medium"/>
              </a:rPr>
              <a:t>艾多美何以成为</a:t>
            </a:r>
          </a:p>
          <a:p>
            <a:pPr algn="l"/>
            <a:r>
              <a:rPr sz="4800" b="0" i="0" lang="zh-CN" altLang="en-US">
                <a:solidFill>
                  <a:srgbClr val="FFFFFF"/>
                </a:solidFill>
                <a:latin typeface="Noto Sans CJK SC Medium"/>
                <a:ea typeface="Noto Sans CJK SC Medium"/>
                <a:cs typeface="Noto Sans CJK SC Medium"/>
              </a:rPr>
              <a:t>一百兆韩元企业</a:t>
            </a:r>
          </a:p>
        </p:txBody>
      </p:sp>
      <p:sp>
        <p:nvSpPr>
          <p:cNvPr id="5" name="Rectangle 4"/>
          <p:cNvSpPr/>
          <p:nvPr/>
        </p:nvSpPr>
        <p:spPr>
          <a:xfrm>
            <a:off x="804672" y="4160520"/>
            <a:ext cx="960120" cy="32004"/>
          </a:xfrm>
          <a:prstGeom prst="rect">
            <a:avLst/>
          </a:prstGeom>
          <a:solidFill>
            <a:srgbClr val="9E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4672" y="4434840"/>
            <a:ext cx="10241280" cy="13258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0000"/>
              </a:lnSpc>
            </a:pPr>
            <a:r>
              <a:rPr sz="1800" b="0" i="0" lang="zh-CN" altLang="en-US">
                <a:solidFill>
                  <a:srgbClr val="D4D4D4"/>
                </a:solidFill>
                <a:latin typeface="Noto Sans CJK SC"/>
                <a:ea typeface="Noto Sans CJK SC"/>
                <a:cs typeface="Noto Sans CJK SC"/>
              </a:rPr>
              <a:t>一百兆不是喊出来的。
工序造出价格，组织代替店铺，选择被拿掉。
中国法人要做的，是把只为旧卖法存在的工序拿掉。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61320" y="6492240"/>
            <a:ext cx="1051560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100" b="0" i="0" lang="zh-CN" altLang="en-US">
                <a:solidFill>
                  <a:srgbClr val="6A6A6A"/>
                </a:solidFill>
                <a:latin typeface="Noto Sans CJK SC"/>
                <a:ea typeface="Noto Sans CJK SC"/>
                <a:cs typeface="Noto Sans CJK SC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806440" cy="6858000"/>
          </a:xfrm>
          <a:prstGeom prst="rect">
            <a:avLst/>
          </a:prstGeom>
          <a:solidFill>
            <a:srgbClr val="1212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1417320"/>
            <a:ext cx="4572000" cy="25603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 lang="zh-CN" altLang="en-US">
                <a:solidFill>
                  <a:srgbClr val="9A9A9A"/>
                </a:solidFill>
                <a:latin typeface="Noto Sans CJK SC"/>
                <a:ea typeface="Noto Sans CJK SC"/>
                <a:cs typeface="Noto Sans CJK SC"/>
              </a:rPr>
              <a:t>行业第一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783080"/>
            <a:ext cx="4846320" cy="10972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7600" b="0" i="0" lang="zh-CN" altLang="en-US">
                <a:solidFill>
                  <a:srgbClr val="FFFFFF"/>
                </a:solidFill>
                <a:latin typeface="Noto Sans CJK SC Medium"/>
                <a:ea typeface="Noto Sans CJK SC Medium"/>
                <a:cs typeface="Noto Sans CJK SC Medium"/>
              </a:rPr>
              <a:t>十兆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306324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 lang="zh-CN" altLang="en-US">
                <a:solidFill>
                  <a:srgbClr val="FFFFFF"/>
                </a:solidFill>
                <a:latin typeface="Noto Sans CJK SC Medium"/>
                <a:ea typeface="Noto Sans CJK SC Medium"/>
                <a:cs typeface="Noto Sans CJK SC Medium"/>
              </a:rPr>
              <a:t>大约六十年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3611880"/>
            <a:ext cx="4663440" cy="10058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5000"/>
              </a:lnSpc>
            </a:pPr>
            <a:r>
              <a:rPr sz="1600" b="0" i="0" lang="zh-CN" altLang="en-US">
                <a:solidFill>
                  <a:srgbClr val="BDBDBD"/>
                </a:solidFill>
                <a:latin typeface="Noto Sans CJK SC"/>
                <a:ea typeface="Noto Sans CJK SC"/>
                <a:cs typeface="Noto Sans CJK SC"/>
              </a:rPr>
              <a:t>安利用了这么久，
走到大约这个数字。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5080" y="1417320"/>
            <a:ext cx="5120640" cy="25603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 lang="zh-CN" altLang="en-US">
                <a:solidFill>
                  <a:srgbClr val="9E1B1B"/>
                </a:solidFill>
                <a:latin typeface="Noto Sans CJK SC"/>
                <a:ea typeface="Noto Sans CJK SC"/>
                <a:cs typeface="Noto Sans CJK SC"/>
              </a:rPr>
              <a:t>要去的地方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1783080"/>
            <a:ext cx="5303520" cy="10972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72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一百兆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55080" y="3063240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大约十五年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5080" y="3611880"/>
            <a:ext cx="5120640" cy="9144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5000"/>
              </a:lnSpc>
            </a:pPr>
            <a:r>
              <a:rPr sz="16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蒙想还在的年月。
不是一百年之后。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55080" y="4892040"/>
            <a:ext cx="5029200" cy="10972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55080" y="5120640"/>
            <a:ext cx="5120640" cy="10515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5000"/>
              </a:lnSpc>
            </a:pPr>
            <a:r>
              <a:rPr sz="18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追上第一，努力可以说通。
十倍，必须有结构。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61320" y="6492240"/>
            <a:ext cx="1051560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100" b="0" i="0" lang="zh-CN" altLang="en-US">
                <a:solidFill>
                  <a:srgbClr val="C8C8C8"/>
                </a:solidFill>
                <a:latin typeface="Noto Sans CJK SC"/>
                <a:ea typeface="Noto Sans CJK SC"/>
                <a:cs typeface="Noto Sans CJK SC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65760"/>
            <a:ext cx="640080" cy="32918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5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10896"/>
            <a:ext cx="10058400" cy="43891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30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信念握不住一百兆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960120"/>
            <a:ext cx="10881360" cy="10972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280160"/>
            <a:ext cx="4846320" cy="4114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6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信念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874519"/>
            <a:ext cx="4754880" cy="2560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5000"/>
              </a:lnSpc>
            </a:pPr>
            <a:r>
              <a:rPr sz="18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中心是自己。
把“一定行”喊紧，念头会更硬。
事情本身不会因此发生。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4846320"/>
            <a:ext cx="4754880" cy="10972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5000"/>
              </a:lnSpc>
            </a:pPr>
            <a:r>
              <a:rPr sz="1600" b="0" i="0" lang="zh-CN" altLang="en-US">
                <a:solidFill>
                  <a:srgbClr val="6A6A6A"/>
                </a:solidFill>
                <a:latin typeface="Noto Sans CJK SC"/>
                <a:ea typeface="Noto Sans CJK SC"/>
                <a:cs typeface="Noto Sans CJK SC"/>
              </a:rPr>
              <a:t>口号只能把信念握紧。
这一份稿要写给不信的人。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6126480" y="1170432"/>
            <a:ext cx="6071616" cy="5074920"/>
          </a:xfrm>
          <a:prstGeom prst="rect">
            <a:avLst/>
          </a:prstGeom>
          <a:solidFill>
            <a:srgbClr val="1212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37960" y="1691640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600" b="0" i="0" lang="zh-CN" altLang="en-US">
                <a:solidFill>
                  <a:srgbClr val="FFFFFF"/>
                </a:solidFill>
                <a:latin typeface="Noto Sans CJK SC Medium"/>
                <a:ea typeface="Noto Sans CJK SC Medium"/>
                <a:cs typeface="Noto Sans CJK SC Medium"/>
              </a:rPr>
              <a:t>结构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37960" y="2331720"/>
            <a:ext cx="5120640" cy="2926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5000"/>
              </a:lnSpc>
            </a:pPr>
            <a:r>
              <a:rPr sz="1800" b="0" i="0" lang="zh-CN" altLang="en-US">
                <a:solidFill>
                  <a:srgbClr val="E6E6E6"/>
                </a:solidFill>
                <a:latin typeface="Noto Sans CJK SC"/>
                <a:ea typeface="Noto Sans CJK SC"/>
                <a:cs typeface="Noto Sans CJK SC"/>
              </a:rPr>
              <a:t>中心是事情本身。
信，或者不信，它都往那里去。
下面要交出的，是这个“都”。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61320" y="6492240"/>
            <a:ext cx="1051560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100" b="0" i="0" lang="zh-CN" altLang="en-US">
                <a:solidFill>
                  <a:srgbClr val="C8C8C8"/>
                </a:solidFill>
                <a:latin typeface="Noto Sans CJK SC"/>
                <a:ea typeface="Noto Sans CJK SC"/>
                <a:cs typeface="Noto Sans CJK SC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65760"/>
            <a:ext cx="640080" cy="32918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5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10896"/>
            <a:ext cx="10058400" cy="43891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30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一百兆不需要所有人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960120"/>
            <a:ext cx="10881360" cy="10972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188720"/>
            <a:ext cx="10789920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0000"/>
              </a:lnSpc>
            </a:pPr>
            <a:r>
              <a:rPr sz="15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亚马逊、沃尔玛、Coupang 把场子铺开，让人自己挑。教科书接着说：高低都做。
这条正论一旦占了位置，绝对品质和绝对价格就站不稳。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2103120"/>
            <a:ext cx="10881360" cy="9144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2304288"/>
            <a:ext cx="118872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6A6A6A"/>
                </a:solidFill>
                <a:latin typeface="Noto Sans CJK SC Medium"/>
                <a:ea typeface="Noto Sans CJK SC Medium"/>
                <a:cs typeface="Noto Sans CJK SC Medium"/>
              </a:rPr>
              <a:t>丢掉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2249424"/>
            <a:ext cx="411480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最上约 1%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2304288"/>
            <a:ext cx="5029200" cy="5029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嫌便宜。东西再好，也不用。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3337560"/>
            <a:ext cx="10881360" cy="9144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3538728"/>
            <a:ext cx="118872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6A6A6A"/>
                </a:solidFill>
                <a:latin typeface="Noto Sans CJK SC Medium"/>
                <a:ea typeface="Noto Sans CJK SC Medium"/>
                <a:cs typeface="Noto Sans CJK SC Medium"/>
              </a:rPr>
              <a:t>丢掉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11680" y="3483864"/>
            <a:ext cx="411480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只认最便宜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3538728"/>
            <a:ext cx="5029200" cy="5029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韩国大约三成。购买力更弱的地方，可以到七成。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4572000"/>
            <a:ext cx="10881360" cy="9144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4773168"/>
            <a:ext cx="118872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留下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11680" y="4718304"/>
            <a:ext cx="411480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绝对品质，绝对价格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4773168"/>
            <a:ext cx="5029200" cy="5029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这一层拿下一半，就够走到千兆。不必占满。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61320" y="6492240"/>
            <a:ext cx="1051560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100" b="0" i="0" lang="zh-CN" altLang="en-US">
                <a:solidFill>
                  <a:srgbClr val="C8C8C8"/>
                </a:solidFill>
                <a:latin typeface="Noto Sans CJK SC"/>
                <a:ea typeface="Noto Sans CJK SC"/>
                <a:cs typeface="Noto Sans CJK SC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65760"/>
            <a:ext cx="640080" cy="32918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5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10896"/>
            <a:ext cx="10058400" cy="43891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30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三十五个点，不能向顾客要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960120"/>
            <a:ext cx="10881360" cy="10972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234440"/>
            <a:ext cx="4754880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78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35%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560320"/>
            <a:ext cx="4846320" cy="15544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5000"/>
              </a:lnSpc>
            </a:pPr>
            <a:r>
              <a:rPr sz="16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这是会员侧的津贴。
现在的渠道大多只过一手。
不能再解释成少了中间商。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89320" y="1234440"/>
            <a:ext cx="5577840" cy="32918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好市多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89320" y="1600200"/>
            <a:ext cx="5577840" cy="6858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</a:pPr>
            <a:r>
              <a:rPr sz="14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毛利为零。年费约八万韩元，买一千万和买一亿都是这一笔。生产者不另加负担。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989320" y="2267712"/>
            <a:ext cx="5532120" cy="9144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89320" y="2377440"/>
            <a:ext cx="5577840" cy="32918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易买得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89320" y="2743200"/>
            <a:ext cx="5577840" cy="6858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</a:pPr>
            <a:r>
              <a:rPr sz="14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进货比重常在六成到七成。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989320" y="3410712"/>
            <a:ext cx="5532120" cy="9144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89320" y="3520440"/>
            <a:ext cx="5577840" cy="32918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电视购物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89320" y="3886200"/>
            <a:ext cx="5577840" cy="6858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</a:pPr>
            <a:r>
              <a:rPr sz="14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播出费用大约四成二，生产者留下五成八。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4892040"/>
            <a:ext cx="10881360" cy="10972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" y="5074920"/>
            <a:ext cx="10789920" cy="10515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5000"/>
              </a:lnSpc>
            </a:pPr>
            <a:r>
              <a:rPr sz="1600" b="0" i="0" lang="zh-CN" altLang="en-US">
                <a:solidFill>
                  <a:srgbClr val="141414"/>
                </a:solidFill>
                <a:latin typeface="Noto Sans CJK SC"/>
                <a:ea typeface="Noto Sans CJK SC"/>
                <a:cs typeface="Noto Sans CJK SC"/>
              </a:rPr>
              <a:t>向消费者加价，这一仗是输的。三十五个点要在工序里造出来。
造出来之后，会员大约半价，事业者仍有津贴，公司仍有余量。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61320" y="6492240"/>
            <a:ext cx="1051560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100" b="0" i="0" lang="zh-CN" altLang="en-US">
                <a:solidFill>
                  <a:srgbClr val="C8C8C8"/>
                </a:solidFill>
                <a:latin typeface="Noto Sans CJK SC"/>
                <a:ea typeface="Noto Sans CJK SC"/>
                <a:cs typeface="Noto Sans CJK SC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65760"/>
            <a:ext cx="640080" cy="32918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5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10896"/>
            <a:ext cx="10058400" cy="43891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30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一千八百韩元，不是利润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960120"/>
            <a:ext cx="10881360" cy="10972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234440"/>
            <a:ext cx="4937760" cy="10515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72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1,200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377440"/>
            <a:ext cx="4754880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0000"/>
              </a:lnSpc>
            </a:pPr>
            <a:r>
              <a:rPr sz="16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韩元。市价 2,000 到 3,000。
二十年，没有人跟上。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26480" y="1280160"/>
            <a:ext cx="123444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制造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52360" y="1298448"/>
            <a:ext cx="4023360" cy="5029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型号一多，每样只做一点，成本被抬高。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1892807"/>
            <a:ext cx="5349240" cy="9144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126480" y="2057400"/>
            <a:ext cx="123444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信任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52360" y="2075688"/>
            <a:ext cx="4023360" cy="5029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为了让人相信，广告和店铺把钱花出去。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26480" y="2670048"/>
            <a:ext cx="5349240" cy="9144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26480" y="2834640"/>
            <a:ext cx="123444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选择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52360" y="2852928"/>
            <a:ext cx="4023360" cy="5029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人要挑选，会买错，会退货。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26480" y="3447288"/>
            <a:ext cx="5349240" cy="9144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" y="4709160"/>
            <a:ext cx="10789920" cy="12344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5000"/>
              </a:lnSpc>
            </a:pPr>
            <a:r>
              <a:rPr sz="1600" b="0" i="0" lang="zh-CN" altLang="en-US">
                <a:solidFill>
                  <a:srgbClr val="141414"/>
                </a:solidFill>
                <a:latin typeface="Noto Sans CJK SC"/>
                <a:ea typeface="Noto Sans CJK SC"/>
                <a:cs typeface="Noto Sans CJK SC"/>
              </a:rPr>
              <a:t>一个造型。人的嘴不变，模具就不改。腔数做大，原料买吨袋，货款付现金。
若只是从现成的货里挑一个，Coupang 明天就能做。要做的是把这一件的生产从头重排。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61320" y="6492240"/>
            <a:ext cx="1051560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100" b="0" i="0" lang="zh-CN" altLang="en-US">
                <a:solidFill>
                  <a:srgbClr val="C8C8C8"/>
                </a:solidFill>
                <a:latin typeface="Noto Sans CJK SC"/>
                <a:ea typeface="Noto Sans CJK SC"/>
                <a:cs typeface="Noto Sans CJK SC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65760"/>
            <a:ext cx="640080" cy="32918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5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10896"/>
            <a:ext cx="10058400" cy="43891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30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七十七万，怎样落到七万六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960120"/>
            <a:ext cx="10881360" cy="10972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170432"/>
            <a:ext cx="5806440" cy="260604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806440" y="1170432"/>
            <a:ext cx="6391656" cy="2606040"/>
          </a:xfrm>
          <a:prstGeom prst="rect">
            <a:avLst/>
          </a:prstGeom>
          <a:solidFill>
            <a:srgbClr val="1212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353312"/>
            <a:ext cx="4572000" cy="25603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 lang="zh-CN" altLang="en-US">
                <a:solidFill>
                  <a:srgbClr val="6A6A6A"/>
                </a:solidFill>
                <a:latin typeface="Noto Sans CJK SC"/>
                <a:ea typeface="Noto Sans CJK SC"/>
                <a:cs typeface="Noto Sans CJK SC"/>
              </a:rPr>
              <a:t>原先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1691640"/>
            <a:ext cx="4846320" cy="8686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42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770,000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2697480"/>
            <a:ext cx="4572000" cy="5029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5000"/>
              </a:lnSpc>
            </a:pPr>
            <a:r>
              <a:rPr sz="1400" b="0" i="0" lang="zh-CN" altLang="en-US">
                <a:solidFill>
                  <a:srgbClr val="6A6A6A"/>
                </a:solidFill>
                <a:latin typeface="Noto Sans CJK SC"/>
                <a:ea typeface="Noto Sans CJK SC"/>
                <a:cs typeface="Noto Sans CJK SC"/>
              </a:rPr>
              <a:t>韩元。走干燥，走切断，
在药材市场现买。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46520" y="1353312"/>
            <a:ext cx="5029200" cy="25603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 lang="zh-CN" altLang="en-US">
                <a:solidFill>
                  <a:srgbClr val="E7B1B1"/>
                </a:solidFill>
                <a:latin typeface="Noto Sans CJK SC"/>
                <a:ea typeface="Noto Sans CJK SC"/>
                <a:cs typeface="Noto Sans CJK SC"/>
              </a:rPr>
              <a:t>现在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1664208"/>
            <a:ext cx="5120640" cy="9601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4800" b="0" i="0" lang="zh-CN" altLang="en-US">
                <a:solidFill>
                  <a:srgbClr val="FFFFFF"/>
                </a:solidFill>
                <a:latin typeface="Noto Sans CJK SC Medium"/>
                <a:ea typeface="Noto Sans CJK SC Medium"/>
                <a:cs typeface="Noto Sans CJK SC Medium"/>
              </a:rPr>
              <a:t>76,500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2697480"/>
            <a:ext cx="5029200" cy="5029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5000"/>
              </a:lnSpc>
            </a:pPr>
            <a:r>
              <a:rPr sz="1400" b="0" i="0" lang="zh-CN" altLang="en-US">
                <a:solidFill>
                  <a:srgbClr val="E7B1B1"/>
                </a:solidFill>
                <a:latin typeface="Noto Sans CJK SC"/>
                <a:ea typeface="Noto Sans CJK SC"/>
                <a:cs typeface="Noto Sans CJK SC"/>
              </a:rPr>
              <a:t>韩元。价格停在十年前，
品质走到十年后。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4069080"/>
            <a:ext cx="3291840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0.5 吨到 18 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4754880"/>
            <a:ext cx="3246120" cy="10515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0000"/>
              </a:lnSpc>
            </a:pPr>
            <a:r>
              <a:rPr sz="14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三十六倍。操作的人仍是一个，人工按三十六分之一计。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78807" y="4114800"/>
            <a:ext cx="10972" cy="1554480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61688" y="4069080"/>
            <a:ext cx="3291840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干燥与切断省掉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61688" y="4754880"/>
            <a:ext cx="3246120" cy="10515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0000"/>
              </a:lnSpc>
            </a:pPr>
            <a:r>
              <a:rPr sz="14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大罐用洗净的鲜品直接取汁。药房那两道工序没有了。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882128" y="4114800"/>
            <a:ext cx="10972" cy="1554480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65008" y="4069080"/>
            <a:ext cx="3291840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先锁住，再放量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65008" y="4754880"/>
            <a:ext cx="3246120" cy="10515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0000"/>
              </a:lnSpc>
            </a:pPr>
            <a:r>
              <a:rPr sz="14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药材要一两年。合同栽培做在涨价之前。依据是月销十万盒。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61320" y="6492240"/>
            <a:ext cx="1051560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100" b="0" i="0" lang="zh-CN" altLang="en-US">
                <a:solidFill>
                  <a:srgbClr val="C8C8C8"/>
                </a:solidFill>
                <a:latin typeface="Noto Sans CJK SC"/>
                <a:ea typeface="Noto Sans CJK SC"/>
                <a:cs typeface="Noto Sans CJK SC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65760"/>
            <a:ext cx="640080" cy="32918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5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06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10896"/>
            <a:ext cx="10058400" cy="43891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30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重做的是整条线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960120"/>
            <a:ext cx="10881360" cy="10972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280160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645920"/>
            <a:ext cx="3337560" cy="7772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4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走到原料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2560320"/>
            <a:ext cx="3291840" cy="2286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5000"/>
              </a:lnSpc>
            </a:pPr>
            <a:r>
              <a:rPr sz="15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人们以为搅拌的人在制造。真正的条件在原料厂：温度、压力、配比。设备厂手里有运转法。按一年的量去要图纸。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61688" y="1280160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61688" y="1645920"/>
            <a:ext cx="3337560" cy="7772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4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涨价之前锁住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61688" y="2560320"/>
            <a:ext cx="3291840" cy="2286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5000"/>
              </a:lnSpc>
            </a:pPr>
            <a:r>
              <a:rPr sz="15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工业品可以连夜加产。药材不行。工序要先放到不能再省的地方。绝对价格，是谁来做都无法更便宜。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65008" y="1280160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65008" y="1645920"/>
            <a:ext cx="3337560" cy="7772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4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会做，才交出运转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65008" y="2560320"/>
            <a:ext cx="3291840" cy="2286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5000"/>
              </a:lnSpc>
            </a:pPr>
            <a:r>
              <a:rPr sz="15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设备我们出，原料我们买，对方只运转。一起，两亿的公司可以做到一百亿。不一起，自己做。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5212080"/>
            <a:ext cx="10881360" cy="10972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5440680"/>
            <a:ext cx="10789920" cy="6858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0000"/>
              </a:lnSpc>
            </a:pPr>
            <a:r>
              <a:rPr sz="1500" b="0" i="0" lang="zh-CN" altLang="en-US">
                <a:solidFill>
                  <a:srgbClr val="141414"/>
                </a:solidFill>
                <a:latin typeface="Noto Sans CJK SC"/>
                <a:ea typeface="Noto Sans CJK SC"/>
                <a:cs typeface="Noto Sans CJK SC"/>
              </a:rPr>
              <a:t>洗发水也是这条路：并成一个，换料和清洗的损耗去掉，成本至少降一半。
一百兆不附带“对方肯配合”。跟，就一起。不跟，优化也不停。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61320" y="6492240"/>
            <a:ext cx="1051560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100" b="0" i="0" lang="zh-CN" altLang="en-US">
                <a:solidFill>
                  <a:srgbClr val="C8C8C8"/>
                </a:solidFill>
                <a:latin typeface="Noto Sans CJK SC"/>
                <a:ea typeface="Noto Sans CJK SC"/>
                <a:cs typeface="Noto Sans CJK SC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65760"/>
            <a:ext cx="640080" cy="32918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5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07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10896"/>
            <a:ext cx="10058400" cy="43891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30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生产侧，对方已经走到了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960120"/>
            <a:ext cx="10881360" cy="10972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325880"/>
            <a:ext cx="475488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 lang="zh-CN" altLang="en-US">
                <a:solidFill>
                  <a:srgbClr val="6A6A6A"/>
                </a:solidFill>
                <a:latin typeface="Noto Sans CJK SC"/>
                <a:ea typeface="Noto Sans CJK SC"/>
                <a:cs typeface="Noto Sans CJK SC"/>
              </a:rPr>
              <a:t>大创的销售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91640"/>
            <a:ext cx="4937760" cy="10058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60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4.5 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2880360"/>
            <a:ext cx="4846320" cy="11887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5000"/>
              </a:lnSpc>
            </a:pPr>
            <a:r>
              <a:rPr sz="16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增长维持在三成以上。
策展、放量、进产线，它都做。
便宜，不等于粗糙。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5989320" y="1417320"/>
            <a:ext cx="10972" cy="2651760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325880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 lang="zh-CN" altLang="en-US">
                <a:solidFill>
                  <a:srgbClr val="9E1B1B"/>
                </a:solidFill>
                <a:latin typeface="Noto Sans CJK SC"/>
                <a:ea typeface="Noto Sans CJK SC"/>
                <a:cs typeface="Noto Sans CJK SC"/>
              </a:rPr>
              <a:t>艾多美眼下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64224" y="1691640"/>
            <a:ext cx="5029200" cy="10058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60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约 3%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880360"/>
            <a:ext cx="4937760" cy="11887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5000"/>
              </a:lnSpc>
            </a:pPr>
            <a:r>
              <a:rPr sz="16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这是增长，不是销售。
品质更好、设计更好，
解释不了这个差距。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8368" y="4434840"/>
            <a:ext cx="10881360" cy="10972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4709160"/>
            <a:ext cx="10789920" cy="12801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5000"/>
              </a:lnSpc>
            </a:pPr>
            <a:r>
              <a:rPr sz="1600" b="0" i="0" lang="zh-CN" altLang="en-US">
                <a:solidFill>
                  <a:srgbClr val="141414"/>
                </a:solidFill>
                <a:latin typeface="Noto Sans CJK SC"/>
                <a:ea typeface="Noto Sans CJK SC"/>
                <a:cs typeface="Noto Sans CJK SC"/>
              </a:rPr>
              <a:t>生产上能挖到的，对方大多已经挖到。差别只能到销售这一侧去找。
若邻里觉得街上有差不多的东西，价格只有一半的一半，后面的教育再密，话也传不出去。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61320" y="6492240"/>
            <a:ext cx="1051560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100" b="0" i="0" lang="zh-CN" altLang="en-US">
                <a:solidFill>
                  <a:srgbClr val="C8C8C8"/>
                </a:solidFill>
                <a:latin typeface="Noto Sans CJK SC"/>
                <a:ea typeface="Noto Sans CJK SC"/>
                <a:cs typeface="Noto Sans CJK SC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65760"/>
            <a:ext cx="640080" cy="32918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5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08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10896"/>
            <a:ext cx="10058400" cy="43891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30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没有店，那三十五个点才回得来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960120"/>
            <a:ext cx="10881360" cy="10972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234440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大创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737360"/>
            <a:ext cx="4937760" cy="12344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5000"/>
              </a:lnSpc>
            </a:pPr>
            <a:r>
              <a:rPr sz="16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必须先有店，人再来。
店的成本，和人找上门的成本，
都是实的。没有店，就没有消费者。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6126480" y="1170432"/>
            <a:ext cx="6071616" cy="2148840"/>
          </a:xfrm>
          <a:prstGeom prst="rect">
            <a:avLst/>
          </a:prstGeom>
          <a:solidFill>
            <a:srgbClr val="1212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520" y="1353312"/>
            <a:ext cx="521208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 lang="zh-CN" altLang="en-US">
                <a:solidFill>
                  <a:srgbClr val="FFFFFF"/>
                </a:solidFill>
                <a:latin typeface="Noto Sans CJK SC Medium"/>
                <a:ea typeface="Noto Sans CJK SC Medium"/>
                <a:cs typeface="Noto Sans CJK SC Medium"/>
              </a:rPr>
              <a:t>艾多美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46520" y="1828800"/>
            <a:ext cx="5303520" cy="11887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0000"/>
              </a:lnSpc>
            </a:pPr>
            <a:r>
              <a:rPr sz="1600" b="0" i="0" lang="zh-CN" altLang="en-US">
                <a:solidFill>
                  <a:srgbClr val="E8E8E8"/>
                </a:solidFill>
                <a:latin typeface="Noto Sans CJK SC"/>
                <a:ea typeface="Noto Sans CJK SC"/>
                <a:cs typeface="Noto Sans CJK SC"/>
              </a:rPr>
              <a:t>没有店。人自己用，也介绍。
半价的体验代替广告和店铺。
省下来的，就是那 35%。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3657600"/>
            <a:ext cx="2606040" cy="4114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/>
            <a:r>
              <a:rPr sz="18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绝对价格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01568" y="3657600"/>
            <a:ext cx="2606040" cy="4114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/>
            <a:r>
              <a:rPr sz="18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会员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44768" y="3657600"/>
            <a:ext cx="2606040" cy="4114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/>
            <a:r>
              <a:rPr sz="18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产量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87968" y="3657600"/>
            <a:ext cx="2606040" cy="4114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/>
            <a:r>
              <a:rPr sz="18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成本再降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4206240"/>
            <a:ext cx="10881360" cy="10972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4434840"/>
            <a:ext cx="10789920" cy="1463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5000"/>
              </a:lnSpc>
            </a:pPr>
            <a:r>
              <a:rPr sz="16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价格带来会员，会员堆出产量，产量把成本再压低。轮子没有刹车。
摩洛哥会员十万以上，孟加拉约二十万。收入差这么远，卖的是同一套产品。
这种东西不是广告推过境的。组织先动，店可以后有。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61320" y="6492240"/>
            <a:ext cx="1051560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100" b="0" i="0" lang="zh-CN" altLang="en-US">
                <a:solidFill>
                  <a:srgbClr val="C8C8C8"/>
                </a:solidFill>
                <a:latin typeface="Noto Sans CJK SC"/>
                <a:ea typeface="Noto Sans CJK SC"/>
                <a:cs typeface="Noto Sans CJK SC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65760"/>
            <a:ext cx="640080" cy="32918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5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09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10896"/>
            <a:ext cx="10058400" cy="43891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30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策展不停在货架上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960120"/>
            <a:ext cx="10881360" cy="10972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234440"/>
            <a:ext cx="2468880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留下什么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91840" y="1252728"/>
            <a:ext cx="8138160" cy="7772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5000"/>
              </a:lnSpc>
            </a:pPr>
            <a:r>
              <a:rPr sz="16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一个品类，一个。品质不拿来换价格。顾客不必在几百个相近的东西里比较。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2121408"/>
            <a:ext cx="10881360" cy="9144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2286000"/>
            <a:ext cx="2468880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如何守住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91840" y="2304288"/>
            <a:ext cx="8138160" cy="7772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5000"/>
              </a:lnSpc>
            </a:pPr>
            <a:r>
              <a:rPr sz="16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从原物管到流通。工厂不必座座自有。原料、设备基准和数据要在自己手里。循环的第一步，是对方看得见的愿景，不是先把货堆出来。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3172968"/>
            <a:ext cx="10881360" cy="9144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3337560"/>
            <a:ext cx="2468880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对准谁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91840" y="3355848"/>
            <a:ext cx="8138160" cy="7772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5000"/>
              </a:lnSpc>
            </a:pPr>
            <a:r>
              <a:rPr sz="16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同一种产品，不再对所有人说同一句话。身体不同，建议就不同。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4224528"/>
            <a:ext cx="10881360" cy="9144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4709160"/>
            <a:ext cx="10789920" cy="10972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0000"/>
              </a:lnSpc>
            </a:pPr>
            <a:r>
              <a:rPr sz="18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所以五百个，不能按五百个算。
亚马逊一把牙刷就有几百款。我们一把，顶的是被挑剩的那一个。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61320" y="6492240"/>
            <a:ext cx="1051560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100" b="0" i="0" lang="zh-CN" altLang="en-US">
                <a:solidFill>
                  <a:srgbClr val="C8C8C8"/>
                </a:solidFill>
                <a:latin typeface="Noto Sans CJK SC"/>
                <a:ea typeface="Noto Sans CJK SC"/>
                <a:cs typeface="Noto Sans CJK SC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65760"/>
            <a:ext cx="640080" cy="32918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5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10896"/>
            <a:ext cx="10058400" cy="43891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30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三个工具，是一个结构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960120"/>
            <a:ext cx="10881360" cy="10972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234440"/>
            <a:ext cx="3246120" cy="25603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APP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600200"/>
            <a:ext cx="329184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4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个人平台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2240280"/>
            <a:ext cx="3246120" cy="20116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5000"/>
              </a:lnSpc>
            </a:pPr>
            <a:r>
              <a:rPr sz="15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自己的店、自己的健康、自己的教育，收在一处。过去租酒店讲一小时，收成五分钟。平台本身就是人工智能。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4160520" y="1280160"/>
            <a:ext cx="10972" cy="3063240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61688" y="1234440"/>
            <a:ext cx="3246120" cy="25603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A-Care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61688" y="1600200"/>
            <a:ext cx="329184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4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艾护理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61688" y="2240280"/>
            <a:ext cx="3246120" cy="20116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5000"/>
              </a:lnSpc>
            </a:pPr>
            <a:r>
              <a:rPr sz="15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不再说“做好了请用”。血、饮食、活动放进来，一年、五年、十年后的身体可以估。越用越准，人才留下来。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863840" y="1280160"/>
            <a:ext cx="10972" cy="3063240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65008" y="1234440"/>
            <a:ext cx="3246120" cy="25603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AZA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65008" y="1600200"/>
            <a:ext cx="329184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4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阿扎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65008" y="2240280"/>
            <a:ext cx="3246120" cy="20116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5000"/>
              </a:lnSpc>
            </a:pPr>
            <a:r>
              <a:rPr sz="15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鸡蛋、油、加油接进来，负责人每天走进来。十万个品目不赚一百兆。一百兆，由大约五百个主力品目赚。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" y="4709160"/>
            <a:ext cx="10881360" cy="10972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4937760"/>
            <a:ext cx="10789920" cy="10515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0000"/>
              </a:lnSpc>
            </a:pPr>
            <a:r>
              <a:rPr sz="1600" b="0" i="0" lang="zh-CN" altLang="en-US">
                <a:solidFill>
                  <a:srgbClr val="141414"/>
                </a:solidFill>
                <a:latin typeface="Noto Sans CJK SC"/>
                <a:ea typeface="Noto Sans CJK SC"/>
                <a:cs typeface="Noto Sans CJK SC"/>
              </a:rPr>
              <a:t>事业者因此不再只是推销的人。工具一变，行为就变，身份就变成顾问，变成这家平台的主人。
消费、推荐和组织，变成留得下的资产。人留下，产量才留下。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61320" y="6492240"/>
            <a:ext cx="1051560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100" b="0" i="0" lang="zh-CN" altLang="en-US">
                <a:solidFill>
                  <a:srgbClr val="C8C8C8"/>
                </a:solidFill>
                <a:latin typeface="Noto Sans CJK SC"/>
                <a:ea typeface="Noto Sans CJK SC"/>
                <a:cs typeface="Noto Sans CJK SC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65760"/>
            <a:ext cx="640080" cy="32918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5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10896"/>
            <a:ext cx="10058400" cy="43891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30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四件事情要同时为真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960120"/>
            <a:ext cx="10881360" cy="10972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234440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1216152"/>
            <a:ext cx="987552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这条链不容易被照抄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3040" y="1655064"/>
            <a:ext cx="987552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5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价格表好抄。育苗、栽培、图纸、专用线和数据，要有人先把愿景和钱放进去。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423160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2404872"/>
            <a:ext cx="987552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不附带对方肯配合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63040" y="2843784"/>
            <a:ext cx="987552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5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跟，就一起把小公司做大。不跟，优化也不停。目标没有这个条件。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3611880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3593592"/>
            <a:ext cx="987552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一半，就是千兆的底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4032504"/>
            <a:ext cx="987552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5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不要全部市场。绝对品质、绝对价格这一层的一半，已经够。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4800600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04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63040" y="4782312"/>
            <a:ext cx="987552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人留下，产量才留下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63040" y="5221224"/>
            <a:ext cx="987552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5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健康越用越准，日常开支接在一处，内容和组织长在自己的平台上。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61320" y="6492240"/>
            <a:ext cx="1051560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100" b="0" i="0" lang="zh-CN" altLang="en-US">
                <a:solidFill>
                  <a:srgbClr val="C8C8C8"/>
                </a:solidFill>
                <a:latin typeface="Noto Sans CJK SC"/>
                <a:ea typeface="Noto Sans CJK SC"/>
                <a:cs typeface="Noto Sans CJK SC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65760"/>
            <a:ext cx="640080" cy="32918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5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10896"/>
            <a:ext cx="10058400" cy="43891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30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运费，不做一贯工程也会降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960120"/>
            <a:ext cx="10881360" cy="10972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280160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691640"/>
            <a:ext cx="3246120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6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谈运费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2514600"/>
            <a:ext cx="3246120" cy="16916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5000"/>
              </a:lnSpc>
            </a:pPr>
            <a:r>
              <a:rPr sz="15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包材、账期、运费，
谈下来报价会好看。
不做一贯工程的采购也会做。
三十五个点仍没有出处。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4160520" y="1280160"/>
            <a:ext cx="10972" cy="2880360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61688" y="1280160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61688" y="1691640"/>
            <a:ext cx="3246120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6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删工序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61688" y="2514600"/>
            <a:ext cx="3246120" cy="16916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5000"/>
              </a:lnSpc>
            </a:pPr>
            <a:r>
              <a:rPr sz="15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干燥、切断，
是药房按克卖才有的。
十八吨的罐子吃洗净的鲜品。
这两步可以没有。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863840" y="1280160"/>
            <a:ext cx="10972" cy="2880360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65008" y="1280160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65008" y="1691640"/>
            <a:ext cx="3246120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6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搬到墙外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65008" y="2514600"/>
            <a:ext cx="3246120" cy="16916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5000"/>
              </a:lnSpc>
            </a:pPr>
            <a:r>
              <a:rPr sz="15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下一道工序盖在原料厂的院墙外，
用管道接。
运的那一趟被拿掉，
才不是在谈运费。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" y="4709160"/>
            <a:ext cx="10881360" cy="10972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4983480"/>
            <a:ext cx="10789920" cy="10972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5000"/>
              </a:lnSpc>
            </a:pPr>
            <a:r>
              <a:rPr sz="22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第一件，谁都会做。
后两件，才是一贯工程。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61320" y="6492240"/>
            <a:ext cx="1051560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100" b="0" i="0" lang="zh-CN" altLang="en-US">
                <a:solidFill>
                  <a:srgbClr val="C8C8C8"/>
                </a:solidFill>
                <a:latin typeface="Noto Sans CJK SC"/>
                <a:ea typeface="Noto Sans CJK SC"/>
                <a:cs typeface="Noto Sans CJK SC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65760"/>
            <a:ext cx="640080" cy="32918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5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10896"/>
            <a:ext cx="10058400" cy="43891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30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中国产线上就做这四件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960120"/>
            <a:ext cx="10881360" cy="10972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170432"/>
            <a:ext cx="640080" cy="32918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1152144"/>
            <a:ext cx="996696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一个模具做大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17320" y="155448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5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牙刷造型不改。腔数做大，机器换大，原料买吨袋，付现金。再换一个造型，腔数就做不大。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377440"/>
            <a:ext cx="640080" cy="32918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2359152"/>
            <a:ext cx="996696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一种配方，罐子不洗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2761488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5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洗发水四五款并成一款。换料和清洗都在多款里。再加一个口味，清洗就回来。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3584448"/>
            <a:ext cx="640080" cy="32918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20" y="3566160"/>
            <a:ext cx="996696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罐子做大，人还是一个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7320" y="3968496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5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萃取罐从 0.5 吨做到 18 吨，三十六倍，操作的人仍是一个。要推的是这只罐子，不是多找几家小厂。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4791456"/>
            <a:ext cx="640080" cy="32918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04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20" y="4773168"/>
            <a:ext cx="996696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鲜品进罐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17320" y="5175504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5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川芎、当归、白芍洗净直接煮。干燥和切断是按克卖药才有的。中国法人在产地守的是这一步。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61320" y="6492240"/>
            <a:ext cx="1051560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100" b="0" i="0" lang="zh-CN" altLang="en-US">
                <a:solidFill>
                  <a:srgbClr val="C8C8C8"/>
                </a:solidFill>
                <a:latin typeface="Noto Sans CJK SC"/>
                <a:ea typeface="Noto Sans CJK SC"/>
                <a:cs typeface="Noto Sans CJK SC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65760"/>
            <a:ext cx="640080" cy="32918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5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10896"/>
            <a:ext cx="10058400" cy="43891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30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带去合作方的，是这三样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960120"/>
            <a:ext cx="10881360" cy="10972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371600"/>
            <a:ext cx="3246120" cy="10515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4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一个月十万套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560320"/>
            <a:ext cx="3246120" cy="16459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5000"/>
              </a:lnSpc>
            </a:pPr>
            <a:r>
              <a:rPr sz="15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价格按这个量重算，
才落到原来的十分之一。
交出去的是能排产的这个数。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4160520" y="1280160"/>
            <a:ext cx="10972" cy="2880360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361688" y="1371600"/>
            <a:ext cx="3246120" cy="10515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4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设备图纸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61688" y="2560320"/>
            <a:ext cx="3246120" cy="16459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5000"/>
              </a:lnSpc>
            </a:pPr>
            <a:r>
              <a:rPr sz="15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设备公司出。没有厂房，就在旁边盖。
原料买断，对方只运转。
拿去的是图纸，不是询价单。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7863840" y="1280160"/>
            <a:ext cx="10972" cy="2880360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65008" y="1371600"/>
            <a:ext cx="3246120" cy="10515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4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育苗就开始的合同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65008" y="2560320"/>
            <a:ext cx="3246120" cy="16459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5000"/>
              </a:lnSpc>
            </a:pPr>
            <a:r>
              <a:rPr sz="15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川芎、当归、白芍从育苗起要一两年。
合同在涨价之前锁上。
农活不会，就公司带。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4709160"/>
            <a:ext cx="10881360" cy="10972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4983480"/>
            <a:ext cx="10789920" cy="10972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5000"/>
              </a:lnSpc>
            </a:pPr>
            <a:r>
              <a:rPr sz="22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大量生产不是第一步。
这个数、这张图纸、这份合同，才是。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61320" y="6492240"/>
            <a:ext cx="1051560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100" b="0" i="0" lang="zh-CN" altLang="en-US">
                <a:solidFill>
                  <a:srgbClr val="C8C8C8"/>
                </a:solidFill>
                <a:latin typeface="Noto Sans CJK SC"/>
                <a:ea typeface="Noto Sans CJK SC"/>
                <a:cs typeface="Noto Sans CJK SC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9E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58368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600" b="0" i="0" lang="zh-CN" altLang="en-US">
                <a:solidFill>
                  <a:srgbClr val="FFFFFF"/>
                </a:solidFill>
                <a:latin typeface="Noto Sans CJK SC Medium"/>
                <a:ea typeface="Noto Sans CJK SC Medium"/>
                <a:cs typeface="Noto Sans CJK SC Medium"/>
              </a:rPr>
              <a:t>生产被重做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23560" y="731519"/>
            <a:ext cx="576072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B5B5B5"/>
                </a:solidFill>
                <a:latin typeface="Noto Sans CJK SC"/>
                <a:ea typeface="Noto Sans CJK SC"/>
                <a:cs typeface="Noto Sans CJK SC"/>
              </a:rPr>
              <a:t>三十五个点有了出处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71600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600" b="0" i="0" lang="zh-CN" altLang="en-US">
                <a:solidFill>
                  <a:srgbClr val="FFFFFF"/>
                </a:solidFill>
                <a:latin typeface="Noto Sans CJK SC Medium"/>
                <a:ea typeface="Noto Sans CJK SC Medium"/>
                <a:cs typeface="Noto Sans CJK SC Medium"/>
              </a:rPr>
              <a:t>消费者被组织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23560" y="1444752"/>
            <a:ext cx="576072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B5B5B5"/>
                </a:solidFill>
                <a:latin typeface="Noto Sans CJK SC"/>
                <a:ea typeface="Noto Sans CJK SC"/>
                <a:cs typeface="Noto Sans CJK SC"/>
              </a:rPr>
              <a:t>广告和店铺被省掉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084832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600" b="0" i="0" lang="zh-CN" altLang="en-US">
                <a:solidFill>
                  <a:srgbClr val="FFFFFF"/>
                </a:solidFill>
                <a:latin typeface="Noto Sans CJK SC Medium"/>
                <a:ea typeface="Noto Sans CJK SC Medium"/>
                <a:cs typeface="Noto Sans CJK SC Medium"/>
              </a:rPr>
              <a:t>选择被拿掉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23560" y="2157984"/>
            <a:ext cx="576072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B5B5B5"/>
                </a:solidFill>
                <a:latin typeface="Noto Sans CJK SC"/>
                <a:ea typeface="Noto Sans CJK SC"/>
                <a:cs typeface="Noto Sans CJK SC"/>
              </a:rPr>
              <a:t>一个品类，只留一个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798064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600" b="0" i="0" lang="zh-CN" altLang="en-US">
                <a:solidFill>
                  <a:srgbClr val="FFFFFF"/>
                </a:solidFill>
                <a:latin typeface="Noto Sans CJK SC Medium"/>
                <a:ea typeface="Noto Sans CJK SC Medium"/>
                <a:cs typeface="Noto Sans CJK SC Medium"/>
              </a:rPr>
              <a:t>人留在结构里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23560" y="2871216"/>
            <a:ext cx="576072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B5B5B5"/>
                </a:solidFill>
                <a:latin typeface="Noto Sans CJK SC"/>
                <a:ea typeface="Noto Sans CJK SC"/>
                <a:cs typeface="Noto Sans CJK SC"/>
              </a:rPr>
              <a:t>产量才继续把成本压低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703320"/>
            <a:ext cx="10058400" cy="7772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48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不能不去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70916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 lang="zh-CN" altLang="en-US">
                <a:solidFill>
                  <a:srgbClr val="D4D4D4"/>
                </a:solidFill>
                <a:latin typeface="Noto Sans CJK SC"/>
                <a:ea typeface="Noto Sans CJK SC"/>
                <a:cs typeface="Noto Sans CJK SC"/>
              </a:rPr>
              <a:t>中国法人要做的，是把只为旧卖法存在的工序拿掉。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80644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 lang="zh-CN" altLang="en-US">
                <a:solidFill>
                  <a:srgbClr val="9A9A9A"/>
                </a:solidFill>
                <a:latin typeface="Noto Sans CJK SC"/>
                <a:ea typeface="Noto Sans CJK SC"/>
                <a:cs typeface="Noto Sans CJK SC"/>
              </a:rPr>
              <a:t>蒙想讯息    2026年9月22日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61320" y="6492240"/>
            <a:ext cx="1051560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100" b="0" i="0" lang="zh-CN" altLang="en-US">
                <a:solidFill>
                  <a:srgbClr val="6A6A6A"/>
                </a:solidFill>
                <a:latin typeface="Noto Sans CJK SC"/>
                <a:ea typeface="Noto Sans CJK SC"/>
                <a:cs typeface="Noto Sans CJK SC"/>
              </a:rPr>
              <a:t>17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艾多美何以成为100兆韩元企业</dc:title>
  <dc:subject>蒙想讯息 · 2026年9月22日</dc:subject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